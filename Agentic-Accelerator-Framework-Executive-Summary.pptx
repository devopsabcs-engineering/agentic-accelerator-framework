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909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1645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572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00584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Accelerator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31520" y="3108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31520" y="38404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security and compliance left with custom GitHub Copilot agents,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Advanced Security, and Microsoft Defender for Cloud.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5"/>
          <p:cNvSpPr/>
          <p:nvPr/>
        </p:nvSpPr>
        <p:spPr>
          <a:xfrm>
            <a:off x="731520" y="4800600"/>
            <a:ext cx="7680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devopsabcs-engineering  |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73152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Formula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solidFill>
            <a:srgbClr val="E8EDF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Accelerator Framework  =  GitHub Advanced Security  +  GitHub Copilot Custom Agents  +  Microsoft Defender for Cloud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377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Left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0" y="23774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GHCP agents run in VS Code before commit and on the GitHub platform during PR review.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063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0" y="30632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 (GitHub Actions + Azure DevOps) run the same controls as automated gates.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7947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73152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3749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43200" y="37490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findings output SARIF v2.1.0 for unified consumption — GitHub Code Scanning + ADO Advanced Security.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4805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73152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4434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743200" y="44348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Overview + Defender for Cloud + Power BI dashboards provide centralized governance.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73152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Custom Agents Across 4 Domains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3749040" cy="1691640"/>
          </a:xfrm>
          <a:prstGeom prst="rect">
            <a:avLst/>
          </a:prstGeom>
          <a:solidFill>
            <a:srgbClr val="F0F4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73152" cy="16916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0972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0698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017520" y="1097280"/>
            <a:ext cx="109728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Agents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15544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SecurityAgent, SecurityReviewerAgent,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SecurityPlanCreator, PipelineSecurityAgent,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IaCSecurityAgent, SupplyChainSecurityAgent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960120"/>
            <a:ext cx="3749040" cy="1691640"/>
          </a:xfrm>
          <a:prstGeom prst="rect">
            <a:avLst/>
          </a:prstGeom>
          <a:solidFill>
            <a:srgbClr val="F0F4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8"/>
          <p:cNvSpPr/>
          <p:nvPr/>
        </p:nvSpPr>
        <p:spPr>
          <a:xfrm>
            <a:off x="4663440" y="960120"/>
            <a:ext cx="73152" cy="1691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97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0698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132320" y="1097280"/>
            <a:ext cx="109728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Agents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92040" y="15544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A11yDetector, A11yResolver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2.2 Level AA compliance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and auto-remediation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2971800"/>
            <a:ext cx="3749040" cy="1691640"/>
          </a:xfrm>
          <a:prstGeom prst="rect">
            <a:avLst/>
          </a:prstGeom>
          <a:solidFill>
            <a:srgbClr val="F0F4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3"/>
          <p:cNvSpPr/>
          <p:nvPr/>
        </p:nvSpPr>
        <p:spPr>
          <a:xfrm>
            <a:off x="548640" y="2971800"/>
            <a:ext cx="73152" cy="1691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1089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3081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3017520" y="3108960"/>
            <a:ext cx="109728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Agents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77240" y="35661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CodeQualityDetector, TestGenerator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≥ 80% gate,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tests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663440" y="2971800"/>
            <a:ext cx="3749040" cy="1691640"/>
          </a:xfrm>
          <a:prstGeom prst="rect">
            <a:avLst/>
          </a:prstGeom>
          <a:solidFill>
            <a:srgbClr val="F0F4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Shape 18"/>
          <p:cNvSpPr/>
          <p:nvPr/>
        </p:nvSpPr>
        <p:spPr>
          <a:xfrm>
            <a:off x="4663440" y="2971800"/>
            <a:ext cx="73152" cy="169164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10896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49240" y="3081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132320" y="3108960"/>
            <a:ext cx="1097280" cy="320040"/>
          </a:xfrm>
          <a:prstGeom prst="rect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892040" y="35661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CostAnalysisAgent, FinOpsGovernanceAgent,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CostAnomalyDetector, CostOptimizerAgent,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DeploymentCostGateAgent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73152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Shift Left Then Scale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737360" cy="1188720"/>
          </a:xfrm>
          <a:prstGeom prst="rect">
            <a:avLst/>
          </a:prstGeom>
          <a:solidFill>
            <a:srgbClr val="3B82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38988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GHCP Agents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pre-screen code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6856" y="1764792"/>
            <a:ext cx="219456" cy="21945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560320" y="1280160"/>
            <a:ext cx="1737360" cy="118872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1389888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560320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Platform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256032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 +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256" y="1764792"/>
            <a:ext cx="219456" cy="219456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617720" y="1280160"/>
            <a:ext cx="1737360" cy="1188720"/>
          </a:xfrm>
          <a:prstGeom prst="rect">
            <a:avLst/>
          </a:prstGeom>
          <a:solidFill>
            <a:srgbClr val="F59E0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1389888"/>
            <a:ext cx="365760" cy="3657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17720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461772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Security Controls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SARIF Upload</a:t>
            </a:r>
            <a:endParaRPr lang="en-US" sz="9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1764792"/>
            <a:ext cx="219456" cy="219456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675120" y="1280160"/>
            <a:ext cx="1737360" cy="1188720"/>
          </a:xfrm>
          <a:prstGeom prst="rect">
            <a:avLst/>
          </a:prstGeom>
          <a:solidFill>
            <a:srgbClr val="F43F5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920" y="1389888"/>
            <a:ext cx="365760" cy="36576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675120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22" name="Text 13"/>
          <p:cNvSpPr/>
          <p:nvPr/>
        </p:nvSpPr>
        <p:spPr>
          <a:xfrm>
            <a:off x="667512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Overview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Cloud</a:t>
            </a:r>
            <a:endParaRPr lang="en-US" sz="900" dirty="0"/>
          </a:p>
        </p:txBody>
      </p:sp>
      <p:sp>
        <p:nvSpPr>
          <p:cNvPr id="23" name="Shape 14"/>
          <p:cNvSpPr/>
          <p:nvPr/>
        </p:nvSpPr>
        <p:spPr>
          <a:xfrm>
            <a:off x="502920" y="2834640"/>
            <a:ext cx="2743200" cy="50292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Text 15"/>
          <p:cNvSpPr/>
          <p:nvPr/>
        </p:nvSpPr>
        <p:spPr>
          <a:xfrm>
            <a:off x="50292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Scanning</a:t>
            </a:r>
            <a:endParaRPr lang="en-US" sz="1000" dirty="0"/>
          </a:p>
        </p:txBody>
      </p:sp>
      <p:sp>
        <p:nvSpPr>
          <p:cNvPr id="25" name="Shape 16"/>
          <p:cNvSpPr/>
          <p:nvPr/>
        </p:nvSpPr>
        <p:spPr>
          <a:xfrm>
            <a:off x="3383280" y="2834640"/>
            <a:ext cx="2743200" cy="50292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Text 17"/>
          <p:cNvSpPr/>
          <p:nvPr/>
        </p:nvSpPr>
        <p:spPr>
          <a:xfrm>
            <a:off x="338328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(Dependabot + SBOM)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6263640" y="2834640"/>
            <a:ext cx="2743200" cy="50292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Text 19"/>
          <p:cNvSpPr/>
          <p:nvPr/>
        </p:nvSpPr>
        <p:spPr>
          <a:xfrm>
            <a:off x="626364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(CodeQL + Autofix)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502920" y="3429000"/>
            <a:ext cx="2743200" cy="50292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Text 21"/>
          <p:cNvSpPr/>
          <p:nvPr/>
        </p:nvSpPr>
        <p:spPr>
          <a:xfrm>
            <a:off x="502920" y="3429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Scanning (MSDO)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3383280" y="3429000"/>
            <a:ext cx="2743200" cy="50292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2" name="Text 23"/>
          <p:cNvSpPr/>
          <p:nvPr/>
        </p:nvSpPr>
        <p:spPr>
          <a:xfrm>
            <a:off x="3383280" y="3429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 Scan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6263640" y="3429000"/>
            <a:ext cx="2743200" cy="50292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4" name="Text 25"/>
          <p:cNvSpPr/>
          <p:nvPr/>
        </p:nvSpPr>
        <p:spPr>
          <a:xfrm>
            <a:off x="6263640" y="3429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(ZAP)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502920" y="4023360"/>
            <a:ext cx="2743200" cy="50292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6" name="Text 27"/>
          <p:cNvSpPr/>
          <p:nvPr/>
        </p:nvSpPr>
        <p:spPr>
          <a:xfrm>
            <a:off x="502920" y="4023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(axe-core)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3383280" y="4023360"/>
            <a:ext cx="2743200" cy="50292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8" name="Text 29"/>
          <p:cNvSpPr/>
          <p:nvPr/>
        </p:nvSpPr>
        <p:spPr>
          <a:xfrm>
            <a:off x="3383280" y="4023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Coverage ≥ 80%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6263640" y="4023360"/>
            <a:ext cx="2743200" cy="50292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0" name="Text 31"/>
          <p:cNvSpPr/>
          <p:nvPr/>
        </p:nvSpPr>
        <p:spPr>
          <a:xfrm>
            <a:off x="6263640" y="4023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Audit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50292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 Pipeline — all findings output SARIF v2.1.0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73152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CI/CD Workflows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08960" y="1051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security-scan.yml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+ push to main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SCA, SAST (CodeQL), IaC, container, DAST scanning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54864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accessibility-scan.yml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0896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+ weekly schedule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Three-engine a11y scan with threshold gating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548640" y="2377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code-quality.yml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0896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2377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Lint, type check, test, 80% coverage gate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548640" y="2834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finops-cost-gate.yml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0896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(IaC changes)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834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Infracost estimate against monthly budget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54864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apm-security.yml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108960" y="3291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(agent config)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3291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audit for prompt file supply chain attacks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54864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ci-full-test.yml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108960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+ PR to main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3749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validation (structure, cross-refs, domains)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54864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deploy-to-github-private.yml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108960" y="4206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main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4206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agent config to org-wide .github-private repo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73152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Governance — Dual-Platform Visibility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828800" cy="1828800"/>
          </a:xfrm>
          <a:prstGeom prst="rect">
            <a:avLst/>
          </a:prstGeom>
          <a:solidFill>
            <a:srgbClr val="F0F4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82880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Security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alerts, filtering,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Campaigns, API access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42032" y="1097280"/>
            <a:ext cx="1828800" cy="1828800"/>
          </a:xfrm>
          <a:prstGeom prst="rect">
            <a:avLst/>
          </a:prstGeom>
          <a:solidFill>
            <a:srgbClr val="F0F4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2542032" y="1097280"/>
            <a:ext cx="18288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2679192" y="1280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Security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79192" y="2011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Org-level risk &amp; coverage,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PR annotations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72584" y="1097280"/>
            <a:ext cx="1828800" cy="1828800"/>
          </a:xfrm>
          <a:prstGeom prst="rect">
            <a:avLst/>
          </a:prstGeom>
          <a:solidFill>
            <a:srgbClr val="F0F4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4672584" y="1097280"/>
            <a:ext cx="18288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4809744" y="1280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AdvSec Report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9744" y="2011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schema, DAX measures,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analysis, Mean Time to Fix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1097280"/>
            <a:ext cx="1828800" cy="1828800"/>
          </a:xfrm>
          <a:prstGeom prst="rect">
            <a:avLst/>
          </a:prstGeom>
          <a:solidFill>
            <a:srgbClr val="F0F4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6803136" y="1097280"/>
            <a:ext cx="1828800" cy="73152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6940296" y="1280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+ DevOps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0296" y="2011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cross-platform view,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path analysis, runtime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246120"/>
            <a:ext cx="7680960" cy="640080"/>
          </a:xfrm>
          <a:prstGeom prst="rect">
            <a:avLst/>
          </a:prstGeom>
          <a:solidFill>
            <a:srgbClr val="E8EDF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914400" y="3246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paths converge at Microsoft Defender for Cloud — providing a single pane of glass across GitHub, Azure DevOps, and GitLab for security, accessibility, code quality, and cost findings.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160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Standards: SARIF v2.1.0  |  OWASP Top 10  |  WCAG 2.2 AA  |  CIS Azure  |  NIST 800-53  |  PCI-DSS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73152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 — 5 Phases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solidFill>
            <a:srgbClr val="F0F4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73152" cy="6400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777240" y="1124712"/>
            <a:ext cx="438912" cy="43891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777240" y="1124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005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Agents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1005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2025 – Sep 2025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1188720"/>
            <a:ext cx="146304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766560" y="1188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719072"/>
            <a:ext cx="8046720" cy="640080"/>
          </a:xfrm>
          <a:prstGeom prst="rect">
            <a:avLst/>
          </a:prstGeom>
          <a:solidFill>
            <a:srgbClr val="F0F4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548640" y="1719072"/>
            <a:ext cx="73152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777240" y="1837944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777240" y="1837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171907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Agents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9040" y="171907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2025 – Mar 2026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1901952"/>
            <a:ext cx="146304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6766560" y="1901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432304"/>
            <a:ext cx="8046720" cy="640080"/>
          </a:xfrm>
          <a:prstGeom prst="rect">
            <a:avLst/>
          </a:prstGeom>
          <a:solidFill>
            <a:srgbClr val="F0F4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548640" y="2432304"/>
            <a:ext cx="73152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777240" y="2551176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777240" y="2551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24323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Agents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49040" y="24323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 – Sep 2026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2615184"/>
            <a:ext cx="146304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6766560" y="26151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145536"/>
            <a:ext cx="8046720" cy="640080"/>
          </a:xfrm>
          <a:prstGeom prst="rect">
            <a:avLst/>
          </a:prstGeom>
          <a:solidFill>
            <a:srgbClr val="F0F4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9" name="Shape 27"/>
          <p:cNvSpPr/>
          <p:nvPr/>
        </p:nvSpPr>
        <p:spPr>
          <a:xfrm>
            <a:off x="548640" y="3145536"/>
            <a:ext cx="73152" cy="64008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Shape 28"/>
          <p:cNvSpPr/>
          <p:nvPr/>
        </p:nvSpPr>
        <p:spPr>
          <a:xfrm>
            <a:off x="777240" y="3264408"/>
            <a:ext cx="438912" cy="438912"/>
          </a:xfrm>
          <a:prstGeom prst="ellipse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777240" y="3264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71600" y="314553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Agents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49040" y="314553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 – Dec 2026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66560" y="3328416"/>
            <a:ext cx="146304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6766560" y="33284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3858768"/>
            <a:ext cx="8046720" cy="640080"/>
          </a:xfrm>
          <a:prstGeom prst="rect">
            <a:avLst/>
          </a:prstGeom>
          <a:solidFill>
            <a:srgbClr val="F0F4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7" name="Shape 35"/>
          <p:cNvSpPr/>
          <p:nvPr/>
        </p:nvSpPr>
        <p:spPr>
          <a:xfrm>
            <a:off x="548640" y="3858768"/>
            <a:ext cx="73152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8" name="Shape 36"/>
          <p:cNvSpPr/>
          <p:nvPr/>
        </p:nvSpPr>
        <p:spPr>
          <a:xfrm>
            <a:off x="777240" y="397764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9" name="Text 37"/>
          <p:cNvSpPr/>
          <p:nvPr/>
        </p:nvSpPr>
        <p:spPr>
          <a:xfrm>
            <a:off x="777240" y="3977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371600" y="38587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Security (APM)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749040" y="38587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 – Mar 2027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66560" y="4041648"/>
            <a:ext cx="146304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3" name="Text 41"/>
          <p:cNvSpPr/>
          <p:nvPr/>
        </p:nvSpPr>
        <p:spPr>
          <a:xfrm>
            <a:off x="6766560" y="40416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1520" y="4526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Cross-cutting: Defender for Cloud + Dashboards span all phases (Jan 2025 – Mar 2027)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Agentic Accelerator?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423160" cy="1417320"/>
          </a:xfrm>
          <a:prstGeom prst="rect">
            <a:avLst/>
          </a:prstGeom>
          <a:solidFill>
            <a:srgbClr val="2A357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3898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Left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18288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issues in the IDE before they reach the PR — reducing cost and cycle time.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91840" y="1280160"/>
            <a:ext cx="2423160" cy="1417320"/>
          </a:xfrm>
          <a:prstGeom prst="rect">
            <a:avLst/>
          </a:prstGeom>
          <a:solidFill>
            <a:srgbClr val="2A357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4173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86200" y="13898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SARIF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474720" y="18288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domains output a single standard format — one pane of glass for all findings.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035040" y="1280160"/>
            <a:ext cx="2423160" cy="1417320"/>
          </a:xfrm>
          <a:prstGeom prst="rect">
            <a:avLst/>
          </a:prstGeom>
          <a:solidFill>
            <a:srgbClr val="2A357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4173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29400" y="13898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Gates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217920" y="18288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CI/CD workflows enforce security, a11y, quality, and cost policies automatically.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48640" y="2971800"/>
            <a:ext cx="2423160" cy="1417320"/>
          </a:xfrm>
          <a:prstGeom prst="rect">
            <a:avLst/>
          </a:prstGeom>
          <a:solidFill>
            <a:srgbClr val="2A357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30815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731520" y="35204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preferred, Azure DevOps first-class citizen. Both converge at Defender for Cloud.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291840" y="2971800"/>
            <a:ext cx="2423160" cy="1417320"/>
          </a:xfrm>
          <a:prstGeom prst="rect">
            <a:avLst/>
          </a:prstGeom>
          <a:solidFill>
            <a:srgbClr val="2A357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886200" y="30815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Safe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3474720" y="35204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audit protects agent configuration files from prompt injection and poisoning.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6035040" y="2971800"/>
            <a:ext cx="2423160" cy="1417320"/>
          </a:xfrm>
          <a:prstGeom prst="rect">
            <a:avLst/>
          </a:prstGeom>
          <a:solidFill>
            <a:srgbClr val="2A357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629400" y="30815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ROI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6217920" y="35204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Mean Time to Fix, coverage trends, and cost savings across Power BI dashboards.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2286000" y="4251960"/>
            <a:ext cx="4572000" cy="502920"/>
          </a:xfrm>
          <a:prstGeom prst="rect">
            <a:avLst/>
          </a:prstGeom>
          <a:solidFill>
            <a:srgbClr val="3B82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8" name="Text 20"/>
          <p:cNvSpPr/>
          <p:nvPr/>
        </p:nvSpPr>
        <p:spPr>
          <a:xfrm>
            <a:off x="2286000" y="4251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Started: Clone the repo  →  Review 15 agents  →  Enable workflows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Text 22"/>
          <p:cNvSpPr/>
          <p:nvPr/>
        </p:nvSpPr>
        <p:spPr>
          <a:xfrm>
            <a:off x="731520" y="4800600"/>
            <a:ext cx="7680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devopsabcs-engineering</a:t>
            </a: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/agentic-accelerator-framework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708</Words>
  <Application>Microsoft Office PowerPoint</Application>
  <PresentationFormat>On-screen Show (16:9)</PresentationFormat>
  <Paragraphs>157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DevSecOps Framework — Executive Summary</dc:title>
  <dc:subject>PptxGenJS Presentation</dc:subject>
  <dc:creator>devopsabcs-engineering</dc:creator>
  <cp:lastModifiedBy>Emmanuel Knafo</cp:lastModifiedBy>
  <cp:revision>4</cp:revision>
  <dcterms:created xsi:type="dcterms:W3CDTF">2026-03-17T20:47:41Z</dcterms:created>
  <dcterms:modified xsi:type="dcterms:W3CDTF">2026-03-19T19:02:50Z</dcterms:modified>
</cp:coreProperties>
</file>